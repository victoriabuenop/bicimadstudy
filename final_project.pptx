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sldIdLst>
    <p:sldId id="256" r:id="rId2"/>
    <p:sldId id="258" r:id="rId3"/>
    <p:sldId id="257" r:id="rId4"/>
    <p:sldId id="261" r:id="rId5"/>
    <p:sldId id="262" r:id="rId6"/>
    <p:sldId id="263" r:id="rId7"/>
    <p:sldId id="264" r:id="rId8"/>
    <p:sldId id="265" r:id="rId9"/>
    <p:sldId id="259" r:id="rId10"/>
    <p:sldId id="266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242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40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13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5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0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6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5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1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4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97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5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84" r:id="rId6"/>
    <p:sldLayoutId id="2147483780" r:id="rId7"/>
    <p:sldLayoutId id="2147483781" r:id="rId8"/>
    <p:sldLayoutId id="2147483782" r:id="rId9"/>
    <p:sldLayoutId id="2147483783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Ayuntamiento_de_la_Comunidad_de_Madrid,_Plaza_de_la_Cibeles..JPG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BiciMAD.jp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os.madrid.es/sites/v/index.jsp?vgnextoid=7547ff52e4a4f410VgnVCM1000000b205a0aRCRD&amp;vgnextchannel=374512b9ace9f310VgnVCM100000171f5a0aRCRD" TargetMode="External"/><Relationship Id="rId2" Type="http://schemas.openxmlformats.org/officeDocument/2006/relationships/hyperlink" Target="https://datos.madrid.es/sites/v/index.jsp?vgnextoid=8d7357cec5efa610VgnVCM1000001d4a900aRCRD&amp;vgnextchannel=374512b9ace9f310VgnVCM100000171f5a0aRCR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os.madrid.es/sites/v/index.jsp?vgnextoid=6d8bdae2be63c410VgnVCM1000000b205a0aRCRD&amp;vgnextchannel=374512b9ace9f310VgnVCM100000171f5a0aRC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outdoor, government building, city, old&#10;&#10;Description automatically generated">
            <a:extLst>
              <a:ext uri="{FF2B5EF4-FFF2-40B4-BE49-F238E27FC236}">
                <a16:creationId xmlns:a16="http://schemas.microsoft.com/office/drawing/2014/main" id="{DAF3763C-4832-4BAD-8772-CAC52C8D7F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8090" r="3247" b="-1"/>
          <a:stretch/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51DA0-A02E-4D67-B108-DDF8EE2EC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sz="4400" dirty="0"/>
              <a:t>PREDICTION OF BICYCLE USERS PER DAY IN MADRID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1A6C3-3FA5-4AAD-952F-66D18A30C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035" y="5870282"/>
            <a:ext cx="3933306" cy="1208141"/>
          </a:xfrm>
        </p:spPr>
        <p:txBody>
          <a:bodyPr>
            <a:normAutofit/>
          </a:bodyPr>
          <a:lstStyle/>
          <a:p>
            <a:r>
              <a:rPr lang="en-US" sz="2000" dirty="0"/>
              <a:t>Victoria Bueno Perez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616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4F2E8-33D4-43AC-BC43-6FEEB353C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to be solved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A035A-9F39-46AE-8B58-319923F92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5218557" cy="36941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My purpose with this project is to see if I can </a:t>
            </a:r>
            <a:r>
              <a:rPr lang="en-US" b="1" dirty="0"/>
              <a:t>predict</a:t>
            </a:r>
            <a:r>
              <a:rPr lang="en-US" dirty="0"/>
              <a:t> the number of </a:t>
            </a:r>
            <a:r>
              <a:rPr lang="en-US" b="1" dirty="0"/>
              <a:t>users</a:t>
            </a:r>
            <a:r>
              <a:rPr lang="en-US" dirty="0"/>
              <a:t> that the public system of bicycles of Madrid’s city hall, called </a:t>
            </a:r>
            <a:r>
              <a:rPr lang="en-US" dirty="0" err="1"/>
              <a:t>BiciMad</a:t>
            </a:r>
            <a:r>
              <a:rPr lang="en-US" dirty="0"/>
              <a:t>, is going to have </a:t>
            </a:r>
            <a:r>
              <a:rPr lang="en-US" b="1" dirty="0"/>
              <a:t>in one day </a:t>
            </a:r>
            <a:r>
              <a:rPr lang="en-US" dirty="0"/>
              <a:t>depending on different features.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picture containing bicycle, outdoor, automaton&#10;&#10;Description automatically generated">
            <a:extLst>
              <a:ext uri="{FF2B5EF4-FFF2-40B4-BE49-F238E27FC236}">
                <a16:creationId xmlns:a16="http://schemas.microsoft.com/office/drawing/2014/main" id="{575A62B8-E078-496B-BC45-3779A47B8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11746" y="2536376"/>
            <a:ext cx="4171950" cy="259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47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591D-2EF2-4206-82D1-6F48D7B0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Features and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46269-5BE0-42BE-BD8A-A307ED94C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257425"/>
            <a:ext cx="6980682" cy="4486275"/>
          </a:xfrm>
        </p:spPr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en-US" dirty="0"/>
              <a:t>Users per day</a:t>
            </a:r>
          </a:p>
          <a:p>
            <a:pPr marL="457200" indent="-457200">
              <a:buAutoNum type="arabicParenR"/>
            </a:pPr>
            <a:r>
              <a:rPr lang="en-US" dirty="0"/>
              <a:t>Number of active </a:t>
            </a:r>
            <a:r>
              <a:rPr lang="en-US" dirty="0" err="1"/>
              <a:t>bonos</a:t>
            </a:r>
            <a:r>
              <a:rPr lang="en-US" dirty="0"/>
              <a:t> (bicycle cards)</a:t>
            </a:r>
          </a:p>
          <a:p>
            <a:pPr marL="457200" indent="-457200">
              <a:buAutoNum type="arabicParenR"/>
            </a:pPr>
            <a:r>
              <a:rPr lang="en-US" b="0" i="0" dirty="0">
                <a:effectLst/>
              </a:rPr>
              <a:t>Available bicycles per day</a:t>
            </a:r>
          </a:p>
          <a:p>
            <a:pPr marL="457200" indent="-457200">
              <a:buAutoNum type="arabicParenR"/>
            </a:pPr>
            <a:r>
              <a:rPr lang="en-US" dirty="0"/>
              <a:t>Day of the week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en-US" dirty="0"/>
              <a:t>Weekend or not</a:t>
            </a:r>
          </a:p>
          <a:p>
            <a:pPr marL="457200" indent="-457200">
              <a:buAutoNum type="arabicParenR"/>
            </a:pPr>
            <a:r>
              <a:rPr lang="en-US" dirty="0"/>
              <a:t>Temperature</a:t>
            </a:r>
          </a:p>
          <a:p>
            <a:pPr marL="457200" indent="-457200">
              <a:buAutoNum type="arabicParenR"/>
            </a:pPr>
            <a:r>
              <a:rPr lang="en-US" dirty="0"/>
              <a:t>Rain</a:t>
            </a:r>
          </a:p>
          <a:p>
            <a:pPr marL="457200" indent="-457200">
              <a:buAutoNum type="arabicParenR"/>
            </a:pPr>
            <a:endParaRPr lang="en-US" b="0" i="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4D856-CCD5-45F6-B4D5-0924AF871224}"/>
              </a:ext>
            </a:extLst>
          </p:cNvPr>
          <p:cNvSpPr txBox="1"/>
          <p:nvPr/>
        </p:nvSpPr>
        <p:spPr>
          <a:xfrm>
            <a:off x="5253037" y="4344955"/>
            <a:ext cx="56864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algn="just"/>
            <a:r>
              <a:rPr lang="en-US" sz="2400" dirty="0"/>
              <a:t>I have created my </a:t>
            </a:r>
            <a:r>
              <a:rPr lang="en-US" sz="2400" b="1" dirty="0"/>
              <a:t>own</a:t>
            </a:r>
            <a:r>
              <a:rPr lang="en-US" sz="2400" dirty="0"/>
              <a:t> </a:t>
            </a:r>
            <a:r>
              <a:rPr lang="en-US" sz="2400" b="1" dirty="0"/>
              <a:t>dataset</a:t>
            </a:r>
            <a:r>
              <a:rPr lang="en-US" sz="2400" dirty="0"/>
              <a:t> with small datasets that I obtained from the open data portal of Madrid’s City Hall</a:t>
            </a:r>
          </a:p>
        </p:txBody>
      </p:sp>
    </p:spTree>
    <p:extLst>
      <p:ext uri="{BB962C8B-B14F-4D97-AF65-F5344CB8AC3E}">
        <p14:creationId xmlns:p14="http://schemas.microsoft.com/office/powerpoint/2010/main" val="5544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9EED6-2850-468C-8511-48165E810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set: Users per day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131EE4-92A8-4EED-8498-0D32E1E9D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25" y="2030730"/>
            <a:ext cx="843915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07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719F-DD68-47FD-A882-B8162A5F0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Active </a:t>
            </a:r>
            <a:r>
              <a:rPr lang="en-US" dirty="0" err="1"/>
              <a:t>bonos</a:t>
            </a:r>
            <a:r>
              <a:rPr lang="en-US" dirty="0"/>
              <a:t> (cards) per day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BC5DBE-A806-48B6-9DF5-78E2EFA7B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4363" y="2305368"/>
            <a:ext cx="8183273" cy="4003992"/>
          </a:xfrm>
        </p:spPr>
      </p:pic>
    </p:spTree>
    <p:extLst>
      <p:ext uri="{BB962C8B-B14F-4D97-AF65-F5344CB8AC3E}">
        <p14:creationId xmlns:p14="http://schemas.microsoft.com/office/powerpoint/2010/main" val="326206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D9F4-3CE4-4BDE-A381-A1C79E7B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Available bicycles per day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E90516-5EF6-40AB-BEF8-982080190D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233" y="2174240"/>
            <a:ext cx="10805533" cy="312191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1820FA-9D96-44C6-AA59-F6AE7F89F855}"/>
              </a:ext>
            </a:extLst>
          </p:cNvPr>
          <p:cNvSpPr txBox="1"/>
          <p:nvPr/>
        </p:nvSpPr>
        <p:spPr>
          <a:xfrm>
            <a:off x="693233" y="5537200"/>
            <a:ext cx="10805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MEAN AVAILABLE BICYCLES = TOTAL SERVICE HOURS/24 = (USED HOURS + AVAILABILITY HOURS) / 24</a:t>
            </a:r>
          </a:p>
        </p:txBody>
      </p:sp>
    </p:spTree>
    <p:extLst>
      <p:ext uri="{BB962C8B-B14F-4D97-AF65-F5344CB8AC3E}">
        <p14:creationId xmlns:p14="http://schemas.microsoft.com/office/powerpoint/2010/main" val="18272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CC73F-54E0-4E03-BF87-209D8ABE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Temperature and Rain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D52962-177A-4806-88CF-A2B2A063A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52" y="2304054"/>
            <a:ext cx="11283696" cy="2977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5BB9F4-833F-4FDA-9B90-F3FB78343E4A}"/>
              </a:ext>
            </a:extLst>
          </p:cNvPr>
          <p:cNvSpPr txBox="1"/>
          <p:nvPr/>
        </p:nvSpPr>
        <p:spPr>
          <a:xfrm>
            <a:off x="558800" y="5628640"/>
            <a:ext cx="817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MAGNITUD = 83 -&gt; TEMPERATURE</a:t>
            </a:r>
          </a:p>
          <a:p>
            <a:r>
              <a:rPr lang="en-US" dirty="0"/>
              <a:t>MAGNITUD = 89 -&gt; RAIN</a:t>
            </a:r>
          </a:p>
        </p:txBody>
      </p:sp>
    </p:spTree>
    <p:extLst>
      <p:ext uri="{BB962C8B-B14F-4D97-AF65-F5344CB8AC3E}">
        <p14:creationId xmlns:p14="http://schemas.microsoft.com/office/powerpoint/2010/main" val="3328708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1B2E3-BE42-4AF8-90EE-D21A55C77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4D1AED-E9C1-4130-873E-4597BDB72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7" y="2297430"/>
            <a:ext cx="9458325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16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2B45B-DD3A-4471-91D2-133298290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Predictive Algorithm: Regression and model 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ADC27-2274-401B-ACA8-EA518875F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257425"/>
            <a:ext cx="10168128" cy="39147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Training data 70%, Testing data 30%</a:t>
            </a:r>
          </a:p>
          <a:p>
            <a:pPr marL="0" indent="0">
              <a:buNone/>
            </a:pPr>
            <a:r>
              <a:rPr lang="en-US" dirty="0"/>
              <a:t>Mean of Total Use is 10,105.1</a:t>
            </a:r>
          </a:p>
          <a:p>
            <a:pPr marL="457200" indent="-457200">
              <a:buAutoNum type="arabicParenR"/>
            </a:pPr>
            <a:r>
              <a:rPr lang="en-US" b="1" dirty="0"/>
              <a:t>Linear Regression Model </a:t>
            </a:r>
            <a:r>
              <a:rPr lang="en-US" dirty="0"/>
              <a:t>(</a:t>
            </a:r>
            <a:r>
              <a:rPr lang="en-US" dirty="0" err="1"/>
              <a:t>lm</a:t>
            </a:r>
            <a:r>
              <a:rPr lang="en-US" dirty="0"/>
              <a:t>)</a:t>
            </a:r>
          </a:p>
          <a:p>
            <a:pPr marL="914400" lvl="2" indent="0">
              <a:buNone/>
            </a:pPr>
            <a:r>
              <a:rPr lang="en-US" dirty="0"/>
              <a:t>Multiple R-squared value of 0.5658</a:t>
            </a:r>
          </a:p>
          <a:p>
            <a:pPr marL="914400" lvl="2" indent="0">
              <a:buNone/>
            </a:pPr>
            <a:r>
              <a:rPr lang="en-US" dirty="0"/>
              <a:t>MAE: 2,013.413</a:t>
            </a:r>
          </a:p>
          <a:p>
            <a:pPr marL="457200" indent="-457200">
              <a:buAutoNum type="arabicParenR"/>
            </a:pPr>
            <a:r>
              <a:rPr lang="en-US" b="1" dirty="0"/>
              <a:t>Regression Tree Model </a:t>
            </a:r>
            <a:r>
              <a:rPr lang="en-US" dirty="0"/>
              <a:t>(</a:t>
            </a:r>
            <a:r>
              <a:rPr lang="en-US" dirty="0" err="1"/>
              <a:t>rpart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800" dirty="0"/>
              <a:t>MAE: </a:t>
            </a:r>
            <a:r>
              <a:rPr lang="en-US" sz="1800" b="1" dirty="0"/>
              <a:t>1,729.243</a:t>
            </a:r>
          </a:p>
          <a:p>
            <a:pPr marL="457200" indent="-457200">
              <a:buAutoNum type="arabicParenR"/>
            </a:pPr>
            <a:r>
              <a:rPr lang="en-US" b="1" dirty="0"/>
              <a:t>Model Tree </a:t>
            </a:r>
            <a:r>
              <a:rPr lang="en-US" dirty="0"/>
              <a:t>(m5p)</a:t>
            </a:r>
          </a:p>
          <a:p>
            <a:pPr marL="457200" lvl="1" indent="0">
              <a:buNone/>
            </a:pPr>
            <a:r>
              <a:rPr lang="en-US"/>
              <a:t>	</a:t>
            </a:r>
            <a:r>
              <a:rPr lang="en-US" sz="1800"/>
              <a:t>MAE: 1,872.847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06786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D6F72-2297-4981-81CD-D1AB2471A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5FCF6-5082-4CB0-AB4A-1D9F15F6A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1) I need more data to perform better models</a:t>
            </a:r>
          </a:p>
          <a:p>
            <a:pPr marL="0" indent="0" algn="just">
              <a:buNone/>
            </a:pPr>
            <a:r>
              <a:rPr lang="en-US" dirty="0"/>
              <a:t>2) As I have created a dataset using many datasets, I have encountered the problem that some datasets collected users' data from 2014 but others like the temperature dataset only had data since 2019 so that has reduced a lot the total number of total observations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With the current total amount of data, I can estimate but not predict accurately the number of users in a day.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196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EE06C-CB75-4ECC-89C3-CC15B33FD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Used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B30F0-84D1-4655-821E-1BB3FE02E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1) Meteorological data:</a:t>
            </a:r>
          </a:p>
          <a:p>
            <a:pPr marL="0" indent="0">
              <a:buNone/>
            </a:pPr>
            <a:r>
              <a:rPr lang="en-US" sz="1800" dirty="0">
                <a:hlinkClick r:id="rId2"/>
              </a:rPr>
              <a:t>https://datos.madrid.es/sites/v/index.jsp?vgnextoid=8d7357cec5efa610VgnVCM1000001d4a900aRCRD&amp;vgnextchannel=374512b9ace9f310VgnVCM100000171f5a0aRCRD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2) Bicycles’ availability:</a:t>
            </a:r>
          </a:p>
          <a:p>
            <a:pPr marL="0" indent="0">
              <a:buNone/>
            </a:pPr>
            <a:r>
              <a:rPr lang="en-US" sz="1800" dirty="0">
                <a:hlinkClick r:id="rId3"/>
              </a:rPr>
              <a:t>https://datos.madrid.es/sites/v/index.jsp?vgnextoid=7547ff52e4a4f410VgnVCM1000000b205a0aRCRD&amp;vgnextchannel=374512b9ace9f310VgnVCM100000171f5a0aRCRD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3) Active users and uses per day:</a:t>
            </a:r>
          </a:p>
          <a:p>
            <a:pPr marL="0" indent="0">
              <a:buNone/>
            </a:pPr>
            <a:r>
              <a:rPr lang="en-US" sz="1800" dirty="0">
                <a:hlinkClick r:id="rId4"/>
              </a:rPr>
              <a:t>https://datos.madrid.es/sites/v/index.jsp?vgnextoid=6d8bdae2be63c410VgnVCM1000000b205a0aRCRD&amp;vgnextchannel=374512b9ace9f310VgnVCM100000171f5a0aRCRD</a:t>
            </a:r>
            <a:endParaRPr lang="en-US" sz="1800" dirty="0"/>
          </a:p>
          <a:p>
            <a:pPr marL="0" indent="0"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6539909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5952</TotalTime>
  <Words>390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Neue Haas Grotesk Text Pro</vt:lpstr>
      <vt:lpstr>AccentBoxVTI</vt:lpstr>
      <vt:lpstr>PREDICTION OF BICYCLE USERS PER DAY IN MADRID</vt:lpstr>
      <vt:lpstr>Problem to be solved</vt:lpstr>
      <vt:lpstr>Features and dataset</vt:lpstr>
      <vt:lpstr>Data set: Users per day</vt:lpstr>
      <vt:lpstr>Dataset: Active bonos (cards) per day</vt:lpstr>
      <vt:lpstr>Dataset: Available bicycles per day</vt:lpstr>
      <vt:lpstr>Dataset: Temperature and Rain</vt:lpstr>
      <vt:lpstr>Final Dataset</vt:lpstr>
      <vt:lpstr>Predictive Algorithm: Regression and model Tress</vt:lpstr>
      <vt:lpstr>CONCLUSION</vt:lpstr>
      <vt:lpstr>Used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WISCONSIN DIAGNOSTIC</dc:title>
  <dc:creator>Victoria Bueno</dc:creator>
  <cp:lastModifiedBy>Victoria Bueno</cp:lastModifiedBy>
  <cp:revision>9</cp:revision>
  <dcterms:created xsi:type="dcterms:W3CDTF">2021-10-26T16:32:07Z</dcterms:created>
  <dcterms:modified xsi:type="dcterms:W3CDTF">2021-12-01T22:09:45Z</dcterms:modified>
</cp:coreProperties>
</file>